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002/dta.2300" TargetMode="External"/><Relationship Id="rId3" Type="http://schemas.openxmlformats.org/officeDocument/2006/relationships/hyperlink" Target="https://doi.org/10.1002/dta.1949" TargetMode="External"/><Relationship Id="rId4" Type="http://schemas.openxmlformats.org/officeDocument/2006/relationships/hyperlink" Target="https://www.law.upenn.edu/institutes/quattronecenter/reports/field-drug-test-study/" TargetMode="External"/><Relationship Id="rId5" Type="http://schemas.openxmlformats.org/officeDocument/2006/relationships/hyperlink" Target="https://www.sih.gov.in/" TargetMode="External"/><Relationship Id="rId6" Type="http://schemas.openxmlformats.org/officeDocument/2006/relationships/hyperlink" Target="https://github.com/pallets/flask" TargetMode="External"/><Relationship Id="rId7" Type="http://schemas.openxmlformats.org/officeDocument/2006/relationships/hyperlink" Target="https://opencv.org/" TargetMode="External"/><Relationship Id="rId8" Type="http://schemas.openxmlformats.org/officeDocument/2006/relationships/hyperlink" Target="https://numpy.org/" TargetMode="External"/><Relationship Id="rId9" Type="http://schemas.openxmlformats.org/officeDocument/2006/relationships/hyperlink" Target="https://scikit-image.org/" TargetMode="External"/><Relationship Id="rId10" Type="http://schemas.openxmlformats.org/officeDocument/2006/relationships/hyperlink" Target="https://www.sqlite.org/" TargetMode="External"/><Relationship Id="rId11" Type="http://schemas.openxmlformats.org/officeDocument/2006/relationships/hyperlink" Target="https://www.reportlab.com/opensource/" TargetMode="External"/><Relationship Id="rId12" Type="http://schemas.openxmlformats.org/officeDocument/2006/relationships/hyperlink" Target="https://docs.python.org/3/library/hashlib.html" TargetMode="External"/><Relationship Id="rId13" Type="http://schemas.openxmlformats.org/officeDocument/2006/relationships/hyperlink" Target="https://doi.org/10.1002/col.20070" TargetMode="External"/><Relationship Id="rId14" Type="http://schemas.openxmlformats.org/officeDocument/2006/relationships/hyperlink" Target="https://dl.acm.org/doi/10.1145/317087.317089" TargetMode="External"/><Relationship Id="rId15" Type="http://schemas.openxmlformats.org/officeDocument/2006/relationships/hyperlink" Target="https://csrc.nist.gov/pubs/fips/180-4/upd1/final" TargetMode="External"/><Relationship Id="rId16" Type="http://schemas.openxmlformats.org/officeDocument/2006/relationships/hyperlink" Target="https://www.rfc-editor.org/rfc/rfc8018" TargetMode="External"/><Relationship Id="rId17" Type="http://schemas.openxmlformats.org/officeDocument/2006/relationships/hyperlink" Target="https://cheatsheetseries.owasp.org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 anchor="ctr" lIns="146304" rIns="146304" tIns="91440" bIns="91440">
            <a:spAutoFit/>
          </a:bodyPr>
          <a:lstStyle/>
          <a:p>
            <a:pPr algn="ctr">
              <a:spcBef>
                <a:spcPts val="0"/>
              </a:spcBef>
            </a:pPr>
            <a:r>
              <a:rPr sz="3400" b="1" i="0">
                <a:solidFill>
                  <a:srgbClr val="000000"/>
                </a:solidFill>
                <a:latin typeface="Calibri"/>
              </a:rP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4835" y="1097280"/>
            <a:ext cx="3703320" cy="4983480"/>
          </a:xfrm>
          <a:prstGeom prst="roundRect">
            <a:avLst>
              <a:gd name="adj" fmla="val 4000"/>
            </a:avLst>
          </a:prstGeom>
          <a:solidFill>
            <a:srgbClr val="D6E6FA"/>
          </a:solidFill>
          <a:ln w="12700">
            <a:solidFill>
              <a:srgbClr val="8A9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F2A44"/>
                </a:solidFill>
                <a:latin typeface="Calibri"/>
              </a:rPr>
              <a:t>Problem &amp; Research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Philp &amp; Fu (2018). A review of chemical “spot” tests: a presumptive illicit drug identification technique. Drug Testing &amp; Analysis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2"/>
              </a:rPr>
              <a:t>doi.org/10.1002/dta.2300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Elkins et al. (2016). Colour quantitation for chemical spot tests (RGB presumptive test database). Drug Testing &amp; Analysis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3"/>
              </a:rPr>
              <a:t>doi.org/10.1002/dta.1949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Quattrone Center, Univ. of Pennsylvania. Field Drug Test Study: false positives from presumptive field tests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4"/>
              </a:rPr>
              <a:t>law.upenn.edu/…/field-drug-test-study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Smart India Hackathon 2026, problem statement SIH26231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5"/>
              </a:rPr>
              <a:t>sih.gov.in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44187" y="1097280"/>
            <a:ext cx="3703320" cy="4983480"/>
          </a:xfrm>
          <a:prstGeom prst="roundRect">
            <a:avLst>
              <a:gd name="adj" fmla="val 4000"/>
            </a:avLst>
          </a:prstGeom>
          <a:solidFill>
            <a:srgbClr val="FFF1C9"/>
          </a:solidFill>
          <a:ln w="12700">
            <a:solidFill>
              <a:srgbClr val="8A9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F2A44"/>
                </a:solidFill>
                <a:latin typeface="Calibri"/>
              </a:rPr>
              <a:t>Open-source Software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Flask: web framework (BSD-3)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6"/>
              </a:rPr>
              <a:t>github.com/pallets/flask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OpenCV: image processing, card detection (Apache-2.0)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7"/>
              </a:rPr>
              <a:t>opencv.org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NumPy: least-squares colour matrix (BSD-3)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8"/>
              </a:rPr>
              <a:t>numpy.org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scikit-image: CIELAB and CIEDE2000 (BSD-3)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9"/>
              </a:rPr>
              <a:t>scikit-image.org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SQLite: record storage (public domain)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0"/>
              </a:rPr>
              <a:t>sqlite.org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ReportLab: PDF reports (BSD)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1"/>
              </a:rPr>
              <a:t>reportlab.com/opensource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Python hashlib: SHA-256 hash chain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2"/>
              </a:rPr>
              <a:t>docs.python.org/3/library/hashlib.html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03539" y="1097280"/>
            <a:ext cx="3703320" cy="4983480"/>
          </a:xfrm>
          <a:prstGeom prst="roundRect">
            <a:avLst>
              <a:gd name="adj" fmla="val 4000"/>
            </a:avLst>
          </a:prstGeom>
          <a:solidFill>
            <a:srgbClr val="E4D7EE"/>
          </a:solidFill>
          <a:ln w="12700">
            <a:solidFill>
              <a:srgbClr val="8A9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F2A44"/>
                </a:solidFill>
                <a:latin typeface="Calibri"/>
              </a:rPr>
              <a:t>Methods &amp; Standards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Sharma, Wu &amp; Dalal (2005). The CIEDE2000 colour-difference formula. Color Research &amp; Application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3"/>
              </a:rPr>
              <a:t>doi.org/10.1002/col.20070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Schneier &amp; Kelsey (1999). Secure audit logs to support computer forensics. ACM TISSEC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4"/>
              </a:rPr>
              <a:t>dl.acm.org/doi/10.1145/317087.317089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NIST FIPS 180-4: Secure Hash Standard (SHA-256)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5"/>
              </a:rPr>
              <a:t>csrc.nist.gov/pubs/fips/180-4/upd1/final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RFC 8018: PBKDF2 password hashing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6"/>
              </a:rPr>
              <a:t>rfc-editor.org/rfc/rfc8018</a:t>
            </a:r>
          </a:p>
          <a:p>
            <a:pPr algn="l">
              <a:spcBef>
                <a:spcPts val="900"/>
              </a:spcBef>
            </a:pPr>
            <a:r>
              <a:rPr sz="1250" b="0" i="0">
                <a:solidFill>
                  <a:srgbClr val="1B1B1B"/>
                </a:solidFill>
                <a:latin typeface="Calibri"/>
              </a:rPr>
              <a:t>OWASP Cheat Sheet Series: CSRF and password storage</a:t>
            </a:r>
          </a:p>
          <a:p>
            <a:pPr algn="l">
              <a:spcBef>
                <a:spcPts val="0"/>
              </a:spcBef>
            </a:pPr>
            <a:r>
              <a:rPr sz="1150" b="0" i="0" u="sng">
                <a:solidFill>
                  <a:srgbClr val="0B57B7"/>
                </a:solidFill>
                <a:latin typeface="Calibri"/>
                <a:hlinkClick r:id="rId17"/>
              </a:rPr>
              <a:t>cheatsheetseries.owasp.org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835" y="6236208"/>
            <a:ext cx="11622024" cy="384048"/>
          </a:xfrm>
          <a:prstGeom prst="roundRect">
            <a:avLst>
              <a:gd name="adj" fmla="val 30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" bIns="27432"/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All software above is open source. Decision thresholds and reference colours are project settings, not published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