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 anchor="ctr" lIns="128016" rIns="128016" tIns="91440" bIns="91440">
            <a:spAutoFit/>
          </a:bodyPr>
          <a:lstStyle/>
          <a:p>
            <a:pPr algn="ctr">
              <a:spcBef>
                <a:spcPts val="0"/>
              </a:spcBef>
            </a:pPr>
            <a:r>
              <a:rPr sz="3400" b="1" i="0">
                <a:solidFill>
                  <a:srgbClr val="000000"/>
                </a:solidFill>
                <a:latin typeface="Calibri"/>
              </a:rPr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411480"/>
          </a:xfrm>
          <a:prstGeom prst="rect">
            <a:avLst/>
          </a:prstGeom>
          <a:noFill/>
        </p:spPr>
        <p:txBody>
          <a:bodyPr wrap="square" anchor="ctr" lIns="128016" rIns="128016" tIns="91440" bIns="91440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0" i="1">
                <a:solidFill>
                  <a:srgbClr val="555F6D"/>
                </a:solidFill>
                <a:latin typeface="Calibri"/>
              </a:rPr>
              <a:t>Lighting-corrected reading and tamper-evident recording of field colorimetric tests · no new hardware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6547" y="1280160"/>
            <a:ext cx="3520440" cy="2395728"/>
          </a:xfrm>
          <a:prstGeom prst="roundRect">
            <a:avLst>
              <a:gd name="adj" fmla="val 8000"/>
            </a:avLst>
          </a:prstGeom>
          <a:solidFill>
            <a:srgbClr val="D6E6FA"/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2A44"/>
                </a:solidFill>
                <a:latin typeface="Calibri"/>
              </a:rPr>
              <a:t>1  Mobile Capture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Officer photographs the reacted strip beside a printed 9-patch reference card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Card: 3 greys · red, green, blue · 3 reagent colours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On-screen alignment guide; UTC time and GPS (if the phone allows)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Card calibrated at each sign-in</a:t>
            </a:r>
          </a:p>
          <a:p>
            <a:pPr algn="l">
              <a:spcBef>
                <a:spcPts val="800"/>
              </a:spcBef>
            </a:pPr>
            <a:r>
              <a:rPr sz="1050" b="1" i="1">
                <a:solidFill>
                  <a:srgbClr val="555F6D"/>
                </a:solidFill>
                <a:latin typeface="Calibri"/>
              </a:rPr>
              <a:t>HTML / JS · Camera &amp; GPS APIs · Flask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35627" y="1280160"/>
            <a:ext cx="3520440" cy="2395728"/>
          </a:xfrm>
          <a:prstGeom prst="roundRect">
            <a:avLst>
              <a:gd name="adj" fmla="val 8000"/>
            </a:avLst>
          </a:prstGeom>
          <a:solidFill>
            <a:srgbClr val="FFF1C9"/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2A44"/>
                </a:solidFill>
                <a:latin typeface="Calibri"/>
              </a:rPr>
              <a:t>2  Quality Gate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Blur (Laplacian) and glare / overexposure checks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Card found from its patch row and straightened (homography)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Bad photo → “Invalid Capture” with a plain retake reason</a:t>
            </a:r>
          </a:p>
          <a:p>
            <a:pPr algn="l">
              <a:spcBef>
                <a:spcPts val="800"/>
              </a:spcBef>
            </a:pPr>
            <a:r>
              <a:rPr sz="1050" b="1" i="1">
                <a:solidFill>
                  <a:srgbClr val="555F6D"/>
                </a:solidFill>
                <a:latin typeface="Calibri"/>
              </a:rPr>
              <a:t>Python · OpenCV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04707" y="1280160"/>
            <a:ext cx="3520440" cy="2395728"/>
          </a:xfrm>
          <a:prstGeom prst="roundRect">
            <a:avLst>
              <a:gd name="adj" fmla="val 8000"/>
            </a:avLst>
          </a:prstGeom>
          <a:solidFill>
            <a:srgbClr val="E4D7EE"/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2A44"/>
                </a:solidFill>
                <a:latin typeface="Calibri"/>
              </a:rPr>
              <a:t>3  Lighting Correction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sRGB → linear light; median colour of each patch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6 of the 9 patches (3 greys + red, green, blue) reveal what the light did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Least-squares colour-correction matrix: 3×3 channel mix + offset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Poor fit → photo rejected, never guessed</a:t>
            </a:r>
          </a:p>
          <a:p>
            <a:pPr algn="l">
              <a:spcBef>
                <a:spcPts val="800"/>
              </a:spcBef>
            </a:pPr>
            <a:r>
              <a:rPr sz="1050" b="1" i="1">
                <a:solidFill>
                  <a:srgbClr val="555F6D"/>
                </a:solidFill>
                <a:latin typeface="Calibri"/>
              </a:rPr>
              <a:t>NumPy · scikit-image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04707" y="3840480"/>
            <a:ext cx="3520440" cy="2395728"/>
          </a:xfrm>
          <a:prstGeom prst="roundRect">
            <a:avLst>
              <a:gd name="adj" fmla="val 8000"/>
            </a:avLst>
          </a:prstGeom>
          <a:solidFill>
            <a:srgbClr val="BFE3E3"/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2A44"/>
                </a:solidFill>
                <a:latin typeface="Calibri"/>
              </a:rPr>
              <a:t>4  Classification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Corrected strip colour → CIELAB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ΔE2000 distance to the Target and Unreacted colours (from the card’s reagent patches)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Positive / Negative / Inconclusive using distance + margin rules</a:t>
            </a:r>
          </a:p>
          <a:p>
            <a:pPr algn="l">
              <a:spcBef>
                <a:spcPts val="800"/>
              </a:spcBef>
            </a:pPr>
            <a:r>
              <a:rPr sz="1050" b="1" i="1">
                <a:solidFill>
                  <a:srgbClr val="555F6D"/>
                </a:solidFill>
                <a:latin typeface="Calibri"/>
              </a:rPr>
              <a:t>scikit-image (CIEDE2000)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5627" y="3840480"/>
            <a:ext cx="3520440" cy="2395728"/>
          </a:xfrm>
          <a:prstGeom prst="roundRect">
            <a:avLst>
              <a:gd name="adj" fmla="val 8000"/>
            </a:avLst>
          </a:prstGeom>
          <a:solidFill>
            <a:srgbClr val="F8D3D3"/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2A44"/>
                </a:solidFill>
                <a:latin typeface="Calibri"/>
              </a:rPr>
              <a:t>5  Tamper-evident Sealing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SHA-256 of the photo; each record (operator, time, GPS, result) is hash-chained to the previous one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Per-record check: image intact · record intact · chain linked</a:t>
            </a:r>
          </a:p>
          <a:p>
            <a:pPr algn="l">
              <a:spcBef>
                <a:spcPts val="800"/>
              </a:spcBef>
            </a:pPr>
            <a:r>
              <a:rPr sz="1050" b="1" i="1">
                <a:solidFill>
                  <a:srgbClr val="555F6D"/>
                </a:solidFill>
                <a:latin typeface="Calibri"/>
              </a:rPr>
              <a:t>hashlib (SHA-256) · SQLite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547" y="3840480"/>
            <a:ext cx="3520440" cy="2395728"/>
          </a:xfrm>
          <a:prstGeom prst="roundRect">
            <a:avLst>
              <a:gd name="adj" fmla="val 8000"/>
            </a:avLst>
          </a:prstGeom>
          <a:solidFill>
            <a:srgbClr val="DDE5CF"/>
          </a:solidFill>
          <a:ln w="12700">
            <a:solidFill>
              <a:srgbClr val="8A94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91440" bIns="91440"/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1F2A44"/>
                </a:solidFill>
                <a:latin typeface="Calibri"/>
              </a:rPr>
              <a:t>6  Log, Verify &amp; Report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Searchable log by operator, outcome and date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Verification page per record; officers see only their own</a:t>
            </a:r>
          </a:p>
          <a:p>
            <a:pPr algn="l">
              <a:spcBef>
                <a:spcPts val="400"/>
              </a:spcBef>
            </a:pPr>
            <a:r>
              <a:rPr sz="1200" b="0" i="0">
                <a:solidFill>
                  <a:srgbClr val="1B1B1B"/>
                </a:solidFill>
                <a:latin typeface="Calibri"/>
              </a:rPr>
              <a:t>•  PDF report with GPS, images and hashes</a:t>
            </a:r>
          </a:p>
          <a:p>
            <a:pPr algn="l">
              <a:spcBef>
                <a:spcPts val="800"/>
              </a:spcBef>
            </a:pPr>
            <a:r>
              <a:rPr sz="1050" b="1" i="1">
                <a:solidFill>
                  <a:srgbClr val="555F6D"/>
                </a:solidFill>
                <a:latin typeface="Calibri"/>
              </a:rPr>
              <a:t>Flask · SQLite · ReportLab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860139" y="2295144"/>
            <a:ext cx="402335" cy="365760"/>
          </a:xfrm>
          <a:prstGeom prst="rightArrow">
            <a:avLst/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929219" y="2295144"/>
            <a:ext cx="402335" cy="365760"/>
          </a:xfrm>
          <a:prstGeom prst="rightArrow">
            <a:avLst/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Down Arrow 11"/>
          <p:cNvSpPr/>
          <p:nvPr/>
        </p:nvSpPr>
        <p:spPr>
          <a:xfrm>
            <a:off x="9982047" y="3703320"/>
            <a:ext cx="365760" cy="109728"/>
          </a:xfrm>
          <a:prstGeom prst="downArrow">
            <a:avLst/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eft Arrow 12"/>
          <p:cNvSpPr/>
          <p:nvPr/>
        </p:nvSpPr>
        <p:spPr>
          <a:xfrm>
            <a:off x="7929219" y="4855464"/>
            <a:ext cx="402335" cy="365760"/>
          </a:xfrm>
          <a:prstGeom prst="leftArrow">
            <a:avLst/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Left Arrow 13"/>
          <p:cNvSpPr/>
          <p:nvPr/>
        </p:nvSpPr>
        <p:spPr>
          <a:xfrm>
            <a:off x="3860139" y="4855464"/>
            <a:ext cx="402335" cy="365760"/>
          </a:xfrm>
          <a:prstGeom prst="leftArrow">
            <a:avLst/>
          </a:prstGeom>
          <a:solidFill>
            <a:srgbClr val="5B7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66547" y="6336792"/>
            <a:ext cx="11658600" cy="402336"/>
          </a:xfrm>
          <a:prstGeom prst="roundRect">
            <a:avLst>
              <a:gd name="adj" fmla="val 30000"/>
            </a:avLst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ctr"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Calibri"/>
              </a:rPr>
              <a:t>Security: officer / admin roles · lockout · CSRF · session timeout      |      Every result is PRESUMPTIVE: confirm in a laboratory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