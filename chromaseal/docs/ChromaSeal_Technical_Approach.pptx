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 anchor="ctr" lIns="128016" rIns="128016" tIns="91440" bIns="91440">
            <a:spAutoFit/>
          </a:bodyPr>
          <a:lstStyle/>
          <a:p>
            <a:pPr algn="ctr">
              <a:spcBef>
                <a:spcPts val="0"/>
              </a:spcBef>
            </a:pPr>
            <a:r>
              <a:rPr sz="3400" b="1" i="0">
                <a:solidFill>
                  <a:srgbClr val="000000"/>
                </a:solidFill>
                <a:latin typeface="Calibri"/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anchor="ctr" lIns="128016" rIns="128016" tIns="91440" bIns="9144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0" i="1">
                <a:solidFill>
                  <a:srgbClr val="555F6D"/>
                </a:solidFill>
                <a:latin typeface="Calibri"/>
              </a:rPr>
              <a:t>ChromaSeal: lighting-corrected reading and tamper-evident recording of field colorimetric drug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547" y="132588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D6E6FA"/>
          </a:solidFill>
          <a:ln w="12700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A44"/>
                </a:solidFill>
                <a:latin typeface="Calibri"/>
              </a:rPr>
              <a:t>1  Mobile Capture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Signed-in officer photographs the reacted strip beside a printed 9-patch reference card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On-screen alignment guide; GPS and UTC time captured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No new hardware, no change to kit chemistry</a:t>
            </a:r>
          </a:p>
          <a:p>
            <a:pPr algn="l">
              <a:spcBef>
                <a:spcPts val="800"/>
              </a:spcBef>
            </a:pPr>
            <a:r>
              <a:rPr sz="1050" b="1" i="1">
                <a:solidFill>
                  <a:srgbClr val="555F6D"/>
                </a:solidFill>
                <a:latin typeface="Calibri"/>
              </a:rPr>
              <a:t>HTML / JS · Camera &amp; GPS APIs · Flask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35627" y="132588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FFF1C9"/>
          </a:solidFill>
          <a:ln w="12700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A44"/>
                </a:solidFill>
                <a:latin typeface="Calibri"/>
              </a:rPr>
              <a:t>2  Quality Gate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Blur (Laplacian) and glare / overexposure checks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Card found from its patch row and straightened (homography)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Bad photo → “Invalid Capture” with a plain retake reason</a:t>
            </a:r>
          </a:p>
          <a:p>
            <a:pPr algn="l">
              <a:spcBef>
                <a:spcPts val="800"/>
              </a:spcBef>
            </a:pPr>
            <a:r>
              <a:rPr sz="1050" b="1" i="1">
                <a:solidFill>
                  <a:srgbClr val="555F6D"/>
                </a:solidFill>
                <a:latin typeface="Calibri"/>
              </a:rPr>
              <a:t>Python · OpenCV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04707" y="132588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E4D7EE"/>
          </a:solidFill>
          <a:ln w="12700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A44"/>
                </a:solidFill>
                <a:latin typeface="Calibri"/>
              </a:rPr>
              <a:t>3  Lighting Correction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sRGB → linear; median of each reference patch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4×3 least-squares colour matrix fitted on 6 reference patches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Poor fit → photo rejected, never guessed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Card calibrated at each sign-in</a:t>
            </a:r>
          </a:p>
          <a:p>
            <a:pPr algn="l">
              <a:spcBef>
                <a:spcPts val="800"/>
              </a:spcBef>
            </a:pPr>
            <a:r>
              <a:rPr sz="1050" b="1" i="1">
                <a:solidFill>
                  <a:srgbClr val="555F6D"/>
                </a:solidFill>
                <a:latin typeface="Calibri"/>
              </a:rPr>
              <a:t>NumPy · scikit-image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04707" y="379476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BFE3E3"/>
          </a:solidFill>
          <a:ln w="12700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A44"/>
                </a:solidFill>
                <a:latin typeface="Calibri"/>
              </a:rPr>
              <a:t>4  Classification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Corrected strip colour → CIELAB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ΔE2000 distance to Target and Unreacted (Blank) colours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Positive / Negative / Inconclusive using distance + margin rules</a:t>
            </a:r>
          </a:p>
          <a:p>
            <a:pPr algn="l">
              <a:spcBef>
                <a:spcPts val="800"/>
              </a:spcBef>
            </a:pPr>
            <a:r>
              <a:rPr sz="1050" b="1" i="1">
                <a:solidFill>
                  <a:srgbClr val="555F6D"/>
                </a:solidFill>
                <a:latin typeface="Calibri"/>
              </a:rPr>
              <a:t>scikit-image (CIEDE2000)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5627" y="379476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F8D3D3"/>
          </a:solidFill>
          <a:ln w="12700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A44"/>
                </a:solidFill>
                <a:latin typeface="Calibri"/>
              </a:rPr>
              <a:t>5  Tamper-evident Sealing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SHA-256 of the photo; each record (operator, time, GPS, result) is hash-chained to the previous one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Per-record check: image intact · record intact · chain linked</a:t>
            </a:r>
          </a:p>
          <a:p>
            <a:pPr algn="l">
              <a:spcBef>
                <a:spcPts val="800"/>
              </a:spcBef>
            </a:pPr>
            <a:r>
              <a:rPr sz="1050" b="1" i="1">
                <a:solidFill>
                  <a:srgbClr val="555F6D"/>
                </a:solidFill>
                <a:latin typeface="Calibri"/>
              </a:rPr>
              <a:t>hashlib (SHA-256) · SQLite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547" y="379476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DDE5CF"/>
          </a:solidFill>
          <a:ln w="12700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A44"/>
                </a:solidFill>
                <a:latin typeface="Calibri"/>
              </a:rPr>
              <a:t>6  Log, Verify &amp; Report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Searchable log by operator, outcome and date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Verification page per record; officers see only their own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PDF report with GPS, images and hashes</a:t>
            </a:r>
          </a:p>
          <a:p>
            <a:pPr algn="l">
              <a:spcBef>
                <a:spcPts val="800"/>
              </a:spcBef>
            </a:pPr>
            <a:r>
              <a:rPr sz="1050" b="1" i="1">
                <a:solidFill>
                  <a:srgbClr val="555F6D"/>
                </a:solidFill>
                <a:latin typeface="Calibri"/>
              </a:rPr>
              <a:t>Flask · SQLite · ReportLab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60139" y="2263139"/>
            <a:ext cx="402335" cy="365760"/>
          </a:xfrm>
          <a:prstGeom prst="rightArrow">
            <a:avLst/>
          </a:prstGeom>
          <a:solidFill>
            <a:srgbClr val="5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929219" y="2263139"/>
            <a:ext cx="402335" cy="365760"/>
          </a:xfrm>
          <a:prstGeom prst="rightArrow">
            <a:avLst/>
          </a:prstGeom>
          <a:solidFill>
            <a:srgbClr val="5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9982047" y="3593592"/>
            <a:ext cx="365760" cy="173736"/>
          </a:xfrm>
          <a:prstGeom prst="downArrow">
            <a:avLst/>
          </a:prstGeom>
          <a:solidFill>
            <a:srgbClr val="5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ft Arrow 12"/>
          <p:cNvSpPr/>
          <p:nvPr/>
        </p:nvSpPr>
        <p:spPr>
          <a:xfrm>
            <a:off x="7929219" y="4732020"/>
            <a:ext cx="402335" cy="365760"/>
          </a:xfrm>
          <a:prstGeom prst="leftArrow">
            <a:avLst/>
          </a:prstGeom>
          <a:solidFill>
            <a:srgbClr val="5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ft Arrow 13"/>
          <p:cNvSpPr/>
          <p:nvPr/>
        </p:nvSpPr>
        <p:spPr>
          <a:xfrm>
            <a:off x="3860139" y="4732020"/>
            <a:ext cx="402335" cy="365760"/>
          </a:xfrm>
          <a:prstGeom prst="leftArrow">
            <a:avLst/>
          </a:prstGeom>
          <a:solidFill>
            <a:srgbClr val="5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6547" y="6144768"/>
            <a:ext cx="11658600" cy="457200"/>
          </a:xfrm>
          <a:prstGeom prst="roundRect">
            <a:avLst>
              <a:gd name="adj" fmla="val 3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Security: officer / admin roles · lockout · CSRF · session timeout      |      Every result is PRESUMPTIVE: confirm in a laboratory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